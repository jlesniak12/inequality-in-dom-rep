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59" r:id="rId5"/>
    <p:sldId id="266" r:id="rId6"/>
    <p:sldId id="267" r:id="rId7"/>
    <p:sldId id="264" r:id="rId8"/>
    <p:sldId id="268" r:id="rId9"/>
    <p:sldId id="270" r:id="rId10"/>
    <p:sldId id="269" r:id="rId11"/>
    <p:sldId id="261" r:id="rId12"/>
    <p:sldId id="263" r:id="rId13"/>
    <p:sldId id="262" r:id="rId14"/>
    <p:sldId id="26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46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F4986-18A2-4CA3-4E19-3EAF81102F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E4C60-C066-E456-02E3-8397AC11A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C18F1-FD10-12DA-C137-624F0B0D5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71FD-D1D0-451A-A2A9-A535D9910B9A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2F0855-6D3D-6902-9B5A-BE02BEAF5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162F4-E615-C765-4719-092654B65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DF57-D032-4F1C-A08D-3CD38430F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471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3CC5C-3175-8A10-CF2E-07304E698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29EC6-2887-7B38-5F0A-C17B7C381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6EBF4-649F-9CCA-D5E2-EA1DF5753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71FD-D1D0-451A-A2A9-A535D9910B9A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C59AB-F91E-0331-7534-58821D49F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56A75-4C7E-6585-91BD-974CF0B55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DF57-D032-4F1C-A08D-3CD38430F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037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36943-04A7-4BED-25EE-B95933BE6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030AF1-15A9-0BBD-CC14-1E910F0FA1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7BD2E-7C6C-3C2A-48DE-49D8E7587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71FD-D1D0-451A-A2A9-A535D9910B9A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96021-6EF5-3864-1E67-6DF7E95D3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87C1F-92A1-0E2B-712C-5E6136075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DF57-D032-4F1C-A08D-3CD38430F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53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2DFB7-742F-E055-42F2-9DA32EE95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1BF16-8896-3B1F-BED4-A5439DEBE1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3C1415-D777-4D6F-C01E-A5A518EE30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FBAB69-D559-36B3-2C9F-C30548B2C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71FD-D1D0-451A-A2A9-A535D9910B9A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986A86-F499-473C-0A67-E83E9CFE0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054356-CE05-A143-79F4-4F11E8FD7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DF57-D032-4F1C-A08D-3CD38430F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735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281EE-CF37-1C85-2B25-DF9B865B8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9D9C6D-98B8-2D50-037D-AF4F7FC44E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7D67E4-8A80-E005-0703-17EB861401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752534-B154-103B-5EC4-417B88A464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5E8BDF-F323-0A9D-2BBA-FC69DD0BC1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27D5D8-DB7E-0735-63DD-BFE122672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71FD-D1D0-451A-A2A9-A535D9910B9A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9B15A0-8AAD-F114-18ED-E83E3635C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A12850-2A5F-22FD-8933-E5B8206CF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DF57-D032-4F1C-A08D-3CD38430F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678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DB292-EC66-0760-F82C-B10D3A126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29B277-4B35-FCB8-A6DF-A13326F40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71FD-D1D0-451A-A2A9-A535D9910B9A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CDA062-196B-AB3A-0662-F93602F1C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2FD31A-C79B-A60B-EEA7-862AB6174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DF57-D032-4F1C-A08D-3CD38430F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910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91D408-1908-1E11-0A11-1EB892169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71FD-D1D0-451A-A2A9-A535D9910B9A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5B33D7-A60D-56A2-2692-620D24B3A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F405D2-5F09-FAAC-81A0-58B1ACC11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DF57-D032-4F1C-A08D-3CD38430F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126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3C41E-52B4-B305-ACC0-78284F53D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2D82C-7154-436D-C089-BF14F6626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92D18D-8A56-9872-40A3-B08B635B2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4E57BB-5217-753A-44FA-D1EB3E6D3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71FD-D1D0-451A-A2A9-A535D9910B9A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DC283-953B-9073-8531-53C4FF21E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354BA5-874A-FBD3-CBD7-3A888E15C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DF57-D032-4F1C-A08D-3CD38430F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979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A42AB-E498-AA37-4FA5-2AF64B43B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7FB6A8-1544-CC38-7341-FC7660FA6C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5E09A5-0247-51AD-3D4B-622B1E0278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ED7712-E226-7712-2823-558338D5C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71FD-D1D0-451A-A2A9-A535D9910B9A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8C7A53-ABCA-C496-E6DC-6BC026A5C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696436-14D1-B0F3-1A3D-81477E7FE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DF57-D032-4F1C-A08D-3CD38430F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395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3FF63-5909-17BD-044E-814C66B8F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8A51A3-C4F1-29BA-69A6-B948F33ED8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DA6DF-E98B-18B2-ED4D-E8BD8A910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71FD-D1D0-451A-A2A9-A535D9910B9A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FE308-495F-0055-D3FF-0B196E524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43E0A-51BF-7CDA-BD5A-C3AB65679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DF57-D032-4F1C-A08D-3CD38430F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156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ABEFA8-F7C4-C0DC-C376-95030D1F14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82DE71-7649-84CE-97B9-D84FBBB125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1A55-D78F-6F8E-CF07-7D006B4B7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71FD-D1D0-451A-A2A9-A535D9910B9A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F44F2-5ACE-D66D-F140-004730AD9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A0156-D635-B10E-D962-020132FDE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DF57-D032-4F1C-A08D-3CD38430F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496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D49163-D8E5-862D-11E8-17D0DC594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0EF182-E9AB-441D-6BDB-A66E777060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FBDAD-DB33-DA25-5B18-C380AF2C91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8E71FD-D1D0-451A-A2A9-A535D9910B9A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5719D-19DE-30B4-1234-C805B05085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45DE8-A795-1721-E06E-69BFB6DDD1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8CDF57-D032-4F1C-A08D-3CD38430F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487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213FA-5C4B-8C38-2843-94154E800C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Preliminary Analysis of Minimum Wage in Dominican Republic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CA6BAE-2AE8-8229-ABF7-1AFDBBBF7B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826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8C0DE-0856-DEA4-2C6D-D0F41C77E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32973-F4CD-36AC-3564-88C165F69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effect of minimum wage increases in the Dominican Republic?</a:t>
            </a:r>
          </a:p>
          <a:p>
            <a:r>
              <a:rPr lang="en-US" dirty="0"/>
              <a:t>Outcomes of interest</a:t>
            </a:r>
          </a:p>
          <a:p>
            <a:pPr lvl="1"/>
            <a:r>
              <a:rPr lang="en-US" dirty="0"/>
              <a:t>Inequality</a:t>
            </a:r>
          </a:p>
          <a:p>
            <a:pPr lvl="1"/>
            <a:r>
              <a:rPr lang="en-US" dirty="0"/>
              <a:t>Formal vs informal labor shares</a:t>
            </a:r>
          </a:p>
          <a:p>
            <a:pPr lvl="1"/>
            <a:r>
              <a:rPr lang="en-US" dirty="0"/>
              <a:t>Share of workers below min wage (non compliance measure)</a:t>
            </a:r>
          </a:p>
        </p:txBody>
      </p:sp>
    </p:spTree>
    <p:extLst>
      <p:ext uri="{BB962C8B-B14F-4D97-AF65-F5344CB8AC3E}">
        <p14:creationId xmlns:p14="http://schemas.microsoft.com/office/powerpoint/2010/main" val="3414045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56EA9-7AEA-44A5-5F3B-70C84C358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613A4-3288-9352-0CC4-41E05714E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600" dirty="0"/>
              <a:t>ENCF household survey:</a:t>
            </a:r>
          </a:p>
          <a:p>
            <a:pPr lvl="1"/>
            <a:r>
              <a:rPr lang="en-US" dirty="0"/>
              <a:t>Longest continuous household survey with quarterly data 2014Q3-2025Q2</a:t>
            </a:r>
          </a:p>
          <a:p>
            <a:pPr lvl="1"/>
            <a:r>
              <a:rPr lang="en-US" dirty="0"/>
              <a:t>Rotating 5 quarter household panel with responses from individuals</a:t>
            </a:r>
          </a:p>
          <a:p>
            <a:pPr lvl="1"/>
            <a:r>
              <a:rPr lang="en-US" dirty="0"/>
              <a:t>Data on demographics/education, income sources, economic sector, worker/workplace characteristics.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sz="2600" dirty="0"/>
              <a:t>Minimum Wage and CPI:</a:t>
            </a:r>
          </a:p>
          <a:p>
            <a:pPr lvl="1"/>
            <a:r>
              <a:rPr lang="en-US" dirty="0"/>
              <a:t>Quarterly data from 2014Q1- 2025Q2</a:t>
            </a:r>
          </a:p>
          <a:p>
            <a:pPr lvl="1"/>
            <a:r>
              <a:rPr lang="en-US" dirty="0"/>
              <a:t>Broken down by firm size/type of firm in real/nominal terms</a:t>
            </a:r>
          </a:p>
          <a:p>
            <a:pPr lvl="1"/>
            <a:r>
              <a:rPr lang="en-US" dirty="0"/>
              <a:t>Firm sizes based on employee count:</a:t>
            </a:r>
          </a:p>
          <a:p>
            <a:pPr lvl="2"/>
            <a:r>
              <a:rPr lang="en-US" dirty="0"/>
              <a:t>Micro: &lt; 10</a:t>
            </a:r>
          </a:p>
          <a:p>
            <a:pPr lvl="2"/>
            <a:r>
              <a:rPr lang="en-US" dirty="0"/>
              <a:t>Small: 11-50</a:t>
            </a:r>
          </a:p>
          <a:p>
            <a:pPr lvl="2"/>
            <a:r>
              <a:rPr lang="en-US" dirty="0"/>
              <a:t>Medium: 51-150 </a:t>
            </a:r>
          </a:p>
          <a:p>
            <a:pPr lvl="2"/>
            <a:r>
              <a:rPr lang="en-US" dirty="0"/>
              <a:t>Large &gt; 150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662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FD79E-061C-56AA-B8D9-6519DABC8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Minimum Wage Policy in Dominican Republic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C48960-7775-837B-970C-E0A657EE99F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Minimum wage is set at national level by committee every 2 years sometimes with a 2-quarter phase in. </a:t>
            </a:r>
          </a:p>
          <a:p>
            <a:r>
              <a:rPr lang="en-US" sz="2400" dirty="0"/>
              <a:t>Adjustment is based on inflation and other economic factors</a:t>
            </a:r>
          </a:p>
          <a:p>
            <a:r>
              <a:rPr lang="en-US" sz="2400" dirty="0"/>
              <a:t>Minimum wage is assigned to firms based on economic size</a:t>
            </a:r>
          </a:p>
          <a:p>
            <a:r>
              <a:rPr lang="en-US" sz="2400" dirty="0"/>
              <a:t>The growth rate of minimum wage is generally fixed for all firm sizes</a:t>
            </a:r>
          </a:p>
          <a:p>
            <a:r>
              <a:rPr lang="en-US" sz="2400" dirty="0"/>
              <a:t>Micro Firms were only introduced as a category in 2021Q3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0C859DE-DD5F-5A50-3C6D-598BB7C3A83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766171"/>
            <a:ext cx="5181600" cy="428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248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346CC-43A1-D414-FC04-0846A96CE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Variables and Concepts From 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97E14-3B46-768F-7332-D30DA1D5C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Primary Salary Income: </a:t>
            </a:r>
            <a:r>
              <a:rPr lang="en-US" sz="2400" dirty="0"/>
              <a:t>Income reported by individual earned from salary in their primary job.</a:t>
            </a:r>
          </a:p>
          <a:p>
            <a:r>
              <a:rPr lang="en-US" sz="2400" b="1" dirty="0"/>
              <a:t>Formal/Informal: </a:t>
            </a:r>
            <a:r>
              <a:rPr lang="en-US" sz="2400" dirty="0"/>
              <a:t>Individual asked if their company is registered with RNC</a:t>
            </a:r>
          </a:p>
          <a:p>
            <a:r>
              <a:rPr lang="en-US" sz="2400" b="1" dirty="0"/>
              <a:t>Firm Size: </a:t>
            </a:r>
            <a:r>
              <a:rPr lang="en-US" sz="2400" dirty="0"/>
              <a:t>Individuals asked how many people work at their company. Used to match individuals with appropriate minimum wage.</a:t>
            </a:r>
          </a:p>
          <a:p>
            <a:r>
              <a:rPr lang="en-US" sz="2400" b="1" dirty="0"/>
              <a:t>Economic Sector: </a:t>
            </a:r>
            <a:r>
              <a:rPr lang="en-US" sz="2400" dirty="0"/>
              <a:t>Indicator for the economic sector of a worker. Used to calculate exposure measure.</a:t>
            </a:r>
          </a:p>
          <a:p>
            <a:r>
              <a:rPr lang="en-US" sz="2400" b="1" dirty="0"/>
              <a:t>Inequality Measures: </a:t>
            </a:r>
            <a:r>
              <a:rPr lang="en-US" sz="2400" dirty="0"/>
              <a:t>We calculate log 90/10 and 50/10 ratios to capture changes in inequality.</a:t>
            </a:r>
          </a:p>
          <a:p>
            <a:r>
              <a:rPr lang="en-US" sz="2400" b="1" dirty="0"/>
              <a:t>Below Min:</a:t>
            </a:r>
            <a:r>
              <a:rPr lang="en-US" sz="2400" dirty="0"/>
              <a:t> Share of workers reporting below minimum wage salary. Used to assess non compliance.</a:t>
            </a: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604158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A8FDC-926B-E096-15DF-280A77E37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Estimation Strategy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6B921-FA6F-2A09-54E1-57D54D48A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563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0F14A-8A51-57E1-3ABE-58F666219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Exposure to Minimum Wage For Economic Sectors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395FC9-6457-F3EF-8AC2-F655AE36B9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We create an exposure to minimum wage by economic sector defined below.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 =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 </m:t>
                    </m:r>
                  </m:oMath>
                </a14:m>
                <a:r>
                  <a:rPr lang="en-US" dirty="0"/>
                  <a:t>represents the share of workers in a sector near minimum wage (+/- 5%) taking into account the firm size specific minimum wages and the distribution of firm sizes in each sector.</a:t>
                </a:r>
              </a:p>
              <a:p>
                <a:r>
                  <a:rPr lang="en-US" dirty="0"/>
                  <a:t>In the model we use a baseline period of 2014Q2-2015Q1 to 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baseline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 </m:t>
                    </m:r>
                  </m:oMath>
                </a14:m>
                <a:r>
                  <a:rPr lang="en-US" dirty="0"/>
                  <a:t> which is then interacted with changes in minimum wage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395FC9-6457-F3EF-8AC2-F655AE36B9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0972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8EBF0-6A32-CC12-48EC-1981D952E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Treatment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5BA92-E548-37FF-6AEB-E00CE954E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Minimum wage jumps discreetly</a:t>
            </a:r>
          </a:p>
        </p:txBody>
      </p:sp>
    </p:spTree>
    <p:extLst>
      <p:ext uri="{BB962C8B-B14F-4D97-AF65-F5344CB8AC3E}">
        <p14:creationId xmlns:p14="http://schemas.microsoft.com/office/powerpoint/2010/main" val="198909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3160E-EA03-AB0B-722F-51CE7D3E6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985A9-8D30-AD1F-FA99-7984DDF85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C85BB-32ED-B417-3A0C-A065D3DBD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021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6FB4D-6DCA-CC71-E361-673900CD9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Empirical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2FFC0-9E81-32F7-2AA0-7C1631EB7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Because there are multiple distinct increases to minimum wage in our dataset we seek to employ a stacked event study design taking into account each event.</a:t>
            </a:r>
          </a:p>
        </p:txBody>
      </p:sp>
    </p:spTree>
    <p:extLst>
      <p:ext uri="{BB962C8B-B14F-4D97-AF65-F5344CB8AC3E}">
        <p14:creationId xmlns:p14="http://schemas.microsoft.com/office/powerpoint/2010/main" val="3634390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F6BF5-0717-78BA-815A-435A0D304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to Previous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AC962-AD8B-23EE-AF5F-F1E6A09D5A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5611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1D0F9-28AF-1059-DF53-5F2E5AFCB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Potential Data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36187-09C0-AE9A-460D-5306D1C43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589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EC558-C597-448A-B033-142ED81EB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B03E4-E99A-926C-8131-A3B22CDDD2E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63AC61-2828-6924-35F0-5EE05956878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2507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448BB-6FE4-2EC3-A0D9-E0014CDD1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Empirical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71668-642A-3BA6-2389-48DF12B43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863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915</TotalTime>
  <Words>430</Words>
  <Application>Microsoft Office PowerPoint</Application>
  <PresentationFormat>Widescreen</PresentationFormat>
  <Paragraphs>48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Office Theme</vt:lpstr>
      <vt:lpstr>Preliminary Analysis of Minimum Wage in Dominican Republic</vt:lpstr>
      <vt:lpstr>Research Question</vt:lpstr>
      <vt:lpstr>Data Overview</vt:lpstr>
      <vt:lpstr>Minimum Wage Policy in Dominican Republic</vt:lpstr>
      <vt:lpstr>Key Variables and Concepts From the Data</vt:lpstr>
      <vt:lpstr>Estimation Strategy Overview</vt:lpstr>
      <vt:lpstr>Defining Exposure to Minimum Wage For Economic Sectors</vt:lpstr>
      <vt:lpstr>Treatment</vt:lpstr>
      <vt:lpstr>Trends</vt:lpstr>
      <vt:lpstr>Empirical Approach</vt:lpstr>
      <vt:lpstr>Comparison to Previous work</vt:lpstr>
      <vt:lpstr>Potential Data Issues</vt:lpstr>
      <vt:lpstr>PowerPoint Presentation</vt:lpstr>
      <vt:lpstr>Empirical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justin lesniak</dc:creator>
  <cp:lastModifiedBy>justin lesniak</cp:lastModifiedBy>
  <cp:revision>2</cp:revision>
  <dcterms:created xsi:type="dcterms:W3CDTF">2026-02-28T17:05:28Z</dcterms:created>
  <dcterms:modified xsi:type="dcterms:W3CDTF">2026-03-02T05:08:56Z</dcterms:modified>
</cp:coreProperties>
</file>